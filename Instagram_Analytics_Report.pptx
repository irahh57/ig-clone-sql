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4" name="Shape 2"/>
          <p:cNvSpPr/>
          <p:nvPr/>
        </p:nvSpPr>
        <p:spPr>
          <a:xfrm>
            <a:off x="73152" y="0"/>
            <a:ext cx="73152" cy="5143500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5" name="Shape 3"/>
          <p:cNvSpPr/>
          <p:nvPr/>
        </p:nvSpPr>
        <p:spPr>
          <a:xfrm>
            <a:off x="146304" y="0"/>
            <a:ext cx="73152" cy="5143500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6" name="Shape 4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833AB4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217920" y="2743200"/>
            <a:ext cx="2743200" cy="2743200"/>
          </a:xfrm>
          <a:prstGeom prst="ellipse">
            <a:avLst/>
          </a:prstGeom>
          <a:solidFill>
            <a:srgbClr val="E1306C">
              <a:alpha val="1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1306C"/>
                </a:solidFill>
              </a:rPr>
              <a:t>INSTAGRAM CLONE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Marketing Analytics Report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3C6"/>
                </a:solidFill>
              </a:rPr>
              <a:t>Data-Driven Insights to Drive Engagement, Retention &amp; Acquisition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743200" cy="3657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2" name="Text 10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3C6"/>
                </a:solidFill>
              </a:rPr>
              <a:t>Presented to: Senior Management  |  Meta Data Analytics 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3C6"/>
                </a:solidFill>
              </a:rPr>
              <a:t>Source: ig_clone database  |  100 Users  ·  257 Photos  ·  8,782 Likes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33AB4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Overview &amp; Data 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Schema, null checks, duplicates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306C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26187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Activity Distribution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66420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Posts, likes, comments behaviour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68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737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Engagement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5292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Rates, top users, follower insights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688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33AB4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45059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Hashtag &amp; Content 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85292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Top tags, avg likes, ad targeting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57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306C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63931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Queries &amp; Insights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04164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Objective question answers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737"/>
                </a:solidFill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363931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Recommendations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4041648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Subjective insights &amp; marketing actions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Platform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833AB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54864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8" name="Text 6"/>
          <p:cNvSpPr/>
          <p:nvPr/>
        </p:nvSpPr>
        <p:spPr>
          <a:xfrm>
            <a:off x="411480" y="1234440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1976933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Registered 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E1306C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143000"/>
            <a:ext cx="2651760" cy="54864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12" name="Text 10"/>
          <p:cNvSpPr/>
          <p:nvPr/>
        </p:nvSpPr>
        <p:spPr>
          <a:xfrm>
            <a:off x="3264408" y="1234440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257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976933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Photos Posted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25896" y="1143000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F7773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143000"/>
            <a:ext cx="2651760" cy="54864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6" name="Text 14"/>
          <p:cNvSpPr/>
          <p:nvPr/>
        </p:nvSpPr>
        <p:spPr>
          <a:xfrm>
            <a:off x="6117336" y="1234440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8,782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99048" y="1976933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Total Likes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15768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FCAF4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15768"/>
            <a:ext cx="2651760" cy="54864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20" name="Text 18"/>
          <p:cNvSpPr/>
          <p:nvPr/>
        </p:nvSpPr>
        <p:spPr>
          <a:xfrm>
            <a:off x="411480" y="2807208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7,488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93192" y="3549701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Comments Made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72968" y="2715768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715768"/>
            <a:ext cx="265176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3264408" y="2807208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7,623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46120" y="3549701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Follow Relationships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25896" y="2715768"/>
            <a:ext cx="2651760" cy="1389888"/>
          </a:xfrm>
          <a:prstGeom prst="rect">
            <a:avLst/>
          </a:prstGeom>
          <a:solidFill>
            <a:srgbClr val="16213E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2715768"/>
            <a:ext cx="2651760" cy="54864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8" name="Text 26"/>
          <p:cNvSpPr/>
          <p:nvPr/>
        </p:nvSpPr>
        <p:spPr>
          <a:xfrm>
            <a:off x="6117336" y="2807208"/>
            <a:ext cx="2468880" cy="764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99048" y="3549701"/>
            <a:ext cx="25054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Unique Hashtags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3C6"/>
                </a:solidFill>
              </a:rPr>
              <a:t>📌  Data extracted from ig_clone MySQL database  ·  No null values or duplicates detected across all tables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Q1 – DATA QUALITY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Null Values &amp; Duplicate 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291840"/>
          </a:xfrm>
          <a:prstGeom prst="rect">
            <a:avLst/>
          </a:prstGeom>
          <a:solidFill>
            <a:srgbClr val="0A0A1A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33AB4"/>
                </a:solidFill>
              </a:rPr>
              <a:t>SQL QUERY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8404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 Check NULL values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'users' AS tbl,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SUM(CASE WHEN username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IS NULL THEN 1 ELSE 0 END) AS nulls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users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UNION 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'photos', SUM(CASE WHEN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image_url IS NULL THEN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ELSE 0 END) FROM photos;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 Check Duplicates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username, COUNT(*) cnt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users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username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HAVING cnt &gt; 1;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347472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10" name="Text 8"/>
          <p:cNvSpPr/>
          <p:nvPr/>
        </p:nvSpPr>
        <p:spPr>
          <a:xfrm>
            <a:off x="4663440" y="10515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05856" y="10515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Column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48272" y="10515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Nulls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90688" y="10515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Dups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5" name="Text 13"/>
          <p:cNvSpPr/>
          <p:nvPr/>
        </p:nvSpPr>
        <p:spPr>
          <a:xfrm>
            <a:off x="4663440" y="14173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05856" y="14173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48272" y="14173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90688" y="14173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837944"/>
            <a:ext cx="4160520" cy="384048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20" name="Text 18"/>
          <p:cNvSpPr/>
          <p:nvPr/>
        </p:nvSpPr>
        <p:spPr>
          <a:xfrm>
            <a:off x="4663440" y="183794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photos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05856" y="183794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image_url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48272" y="183794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90688" y="183794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N/A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58568"/>
            <a:ext cx="4160520" cy="384048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25" name="Text 23"/>
          <p:cNvSpPr/>
          <p:nvPr/>
        </p:nvSpPr>
        <p:spPr>
          <a:xfrm>
            <a:off x="4663440" y="22585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05856" y="22585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comment_text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48272" y="22585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90688" y="22585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N/A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79192"/>
            <a:ext cx="4160520" cy="384048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30" name="Text 28"/>
          <p:cNvSpPr/>
          <p:nvPr/>
        </p:nvSpPr>
        <p:spPr>
          <a:xfrm>
            <a:off x="4663440" y="26791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likes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05856" y="26791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user_id / photo_id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26791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90688" y="26791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099816"/>
            <a:ext cx="4160520" cy="384048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35" name="Text 33"/>
          <p:cNvSpPr/>
          <p:nvPr/>
        </p:nvSpPr>
        <p:spPr>
          <a:xfrm>
            <a:off x="4663440" y="309981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follows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05856" y="309981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follower_id / followee_id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48272" y="309981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90688" y="309981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584448"/>
            <a:ext cx="4160520" cy="841248"/>
          </a:xfrm>
          <a:prstGeom prst="rect">
            <a:avLst/>
          </a:prstGeom>
          <a:solidFill>
            <a:srgbClr val="0D2A1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639312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FINDING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385876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All tables are clean — zero null values and zero duplicate records detected. No data pre-processing is required before analysis.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Q2 – USER ACTIVITY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User Activity Distribution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306C"/>
                </a:solidFill>
              </a:rPr>
              <a:t>Posts per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8" name="Shape 6"/>
          <p:cNvSpPr/>
          <p:nvPr/>
        </p:nvSpPr>
        <p:spPr>
          <a:xfrm>
            <a:off x="914400" y="1508760"/>
            <a:ext cx="665683" cy="20116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9" name="Text 7"/>
          <p:cNvSpPr/>
          <p:nvPr/>
        </p:nvSpPr>
        <p:spPr>
          <a:xfrm>
            <a:off x="3547872" y="149047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0 posts (Inactive)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9047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4560"/>
                </a:solidFill>
              </a:rPr>
              <a:t>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49047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4560"/>
                </a:solidFill>
              </a:rPr>
              <a:t>26%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167128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3" name="Shape 11"/>
          <p:cNvSpPr/>
          <p:nvPr/>
        </p:nvSpPr>
        <p:spPr>
          <a:xfrm>
            <a:off x="914400" y="2167128"/>
            <a:ext cx="1024128" cy="201168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14" name="Text 12"/>
          <p:cNvSpPr/>
          <p:nvPr/>
        </p:nvSpPr>
        <p:spPr>
          <a:xfrm>
            <a:off x="3547872" y="21488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1–3 posts (Casual)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14884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AF45"/>
                </a:solidFill>
              </a:rPr>
              <a:t>40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14884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40%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2825496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8" name="Shape 16"/>
          <p:cNvSpPr/>
          <p:nvPr/>
        </p:nvSpPr>
        <p:spPr>
          <a:xfrm>
            <a:off x="914400" y="2825496"/>
            <a:ext cx="716890" cy="201168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9" name="Text 17"/>
          <p:cNvSpPr/>
          <p:nvPr/>
        </p:nvSpPr>
        <p:spPr>
          <a:xfrm>
            <a:off x="3547872" y="280720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4–6 posts (Regular)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807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77737"/>
                </a:solidFill>
              </a:rPr>
              <a:t>28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8072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28%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483864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3" name="Shape 21"/>
          <p:cNvSpPr/>
          <p:nvPr/>
        </p:nvSpPr>
        <p:spPr>
          <a:xfrm>
            <a:off x="914400" y="3483864"/>
            <a:ext cx="153619" cy="20116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24" name="Text 22"/>
          <p:cNvSpPr/>
          <p:nvPr/>
        </p:nvSpPr>
        <p:spPr>
          <a:xfrm>
            <a:off x="3547872" y="346557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7+ posts (Power Users)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46557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46557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6%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306C"/>
                </a:solidFill>
              </a:rPr>
              <a:t>Platform Activity Rates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402336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F777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6459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49240" y="15544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7737"/>
                </a:solidFill>
              </a:rPr>
              <a:t>34.2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349240" y="20116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3C6"/>
                </a:solidFill>
              </a:rPr>
              <a:t>Avg Likes per Photo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514600"/>
            <a:ext cx="402336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833A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517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25603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33AB4"/>
                </a:solidFill>
              </a:rPr>
              <a:t>29.1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34924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3C6"/>
                </a:solidFill>
              </a:rPr>
              <a:t>Avg Comments per Photo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520440"/>
            <a:ext cx="402336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576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49240" y="35661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</a:rPr>
              <a:t>76.2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349240" y="4023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3C6"/>
                </a:solidFill>
              </a:rPr>
              <a:t>Avg Follows per User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0A0E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544568"/>
            <a:ext cx="8229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💡  26% of users have never posted — a prime re-engagement opportunity. Only 6% are power users driving most of the content.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Q3 &amp; Q7 – TAGS &amp; INACTIVE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Tags per Post  ·  Users Who Never Liked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F45"/>
                </a:solidFill>
              </a:rPr>
              <a:t>Q3: Average Tags per 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CAF45"/>
                </a:solidFill>
              </a:rPr>
              <a:t>1.95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3C6"/>
                </a:solidFill>
              </a:rPr>
              <a:t>average tags per photo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657600" cy="36576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11" name="Text 9"/>
          <p:cNvSpPr/>
          <p:nvPr/>
        </p:nvSpPr>
        <p:spPr>
          <a:xfrm>
            <a:off x="548640" y="29992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Total Photo-Tag Links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29992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501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Total Photos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33467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257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6941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Tags with Photos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36941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3C6"/>
                </a:solidFill>
              </a:rPr>
              <a:t>Most Used Tag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40416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#smile (59 uses)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3657600" cy="219456"/>
          </a:xfrm>
          <a:prstGeom prst="rect">
            <a:avLst/>
          </a:prstGeom>
          <a:solidFill>
            <a:srgbClr val="0A0A1A"/>
          </a:solidFill>
          <a:ln w="6350">
            <a:solidFill>
              <a:srgbClr val="FCA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6110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COUNT(*) / COUNT(DISTINCT photo_id) FROM photo_tags JOIN photos;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887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Q7: Users Who Never Liked Any Post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55448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94560"/>
                </a:solidFill>
              </a:rPr>
              <a:t>23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4709160" y="23957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3C6"/>
                </a:solidFill>
              </a:rPr>
              <a:t>users (23%)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74320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Sample inactive users: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02666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Kenton_Kirlin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66560" y="301752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02666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Kasandra_Homenick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333756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4670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Eveline95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66560" y="333756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4670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Tierra.Trantow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9160" y="365760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6674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Jaime53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766560" y="365760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66674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Pearl7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09160" y="397764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98678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David.Osinski47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66560" y="3977640"/>
            <a:ext cx="1965960" cy="256032"/>
          </a:xfrm>
          <a:prstGeom prst="rect">
            <a:avLst/>
          </a:prstGeom>
          <a:solidFill>
            <a:srgbClr val="2A0A14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986784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3C6"/>
                </a:solidFill>
              </a:rPr>
              <a:t>● Morgan.Kassulke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09160" y="4343400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3C6"/>
                </a:solidFill>
              </a:rPr>
              <a:t>+15 more users...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671435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Q4 – ENGAGEMENT RANKINGS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Top Users by Engagement Rate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749040" cy="1645920"/>
          </a:xfrm>
          <a:prstGeom prst="rect">
            <a:avLst/>
          </a:prstGeom>
          <a:solidFill>
            <a:srgbClr val="0A0A1A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33AB4"/>
                </a:solidFill>
              </a:rPr>
              <a:t>SQL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u.username,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COUNT(DISTINCT p.id) posts,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COUNT(DISTINCT l.user_id) likes,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COUNT(DISTINCT c.id) comments,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ROUND((likes+comments)/posts,1)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AS avg_engagement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users u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photos p ON u.id=p.user_id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avg_engagement DESC;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8412480" cy="329184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10" name="Text 8"/>
          <p:cNvSpPr/>
          <p:nvPr/>
        </p:nvSpPr>
        <p:spPr>
          <a:xfrm>
            <a:off x="384048" y="28163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Rank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Username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0" y="281635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0" y="2816352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Likes Rcvd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281635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Comments Rcvd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281635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Avg Engagement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7" name="Text 15"/>
          <p:cNvSpPr/>
          <p:nvPr/>
        </p:nvSpPr>
        <p:spPr>
          <a:xfrm>
            <a:off x="384048" y="3163824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316382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Meggie_Doyle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0" y="316382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0" y="316382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41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0" y="316382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316382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75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24" name="Text 22"/>
          <p:cNvSpPr/>
          <p:nvPr/>
        </p:nvSpPr>
        <p:spPr>
          <a:xfrm>
            <a:off x="384048" y="351129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🥈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351129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Jaylan.Lakin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0" y="351129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0" y="351129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0" y="351129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92240" y="351129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73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858768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31" name="Text 29"/>
          <p:cNvSpPr/>
          <p:nvPr/>
        </p:nvSpPr>
        <p:spPr>
          <a:xfrm>
            <a:off x="384048" y="38587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" y="385876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Granville_Kutch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0" y="3858768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0" y="385876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0" y="385876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0" y="3858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71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38" name="Text 36"/>
          <p:cNvSpPr/>
          <p:nvPr/>
        </p:nvSpPr>
        <p:spPr>
          <a:xfrm>
            <a:off x="384048" y="420624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42062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Kenneth64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0" y="420624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023360" y="420624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39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42062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92240" y="420624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70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553712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5" name="Text 43"/>
          <p:cNvSpPr/>
          <p:nvPr/>
        </p:nvSpPr>
        <p:spPr>
          <a:xfrm>
            <a:off x="384048" y="455371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" y="455371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Karley_Bosco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00400" y="45537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023360" y="4553712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0" y="455371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455371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901184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52" name="Text 50"/>
          <p:cNvSpPr/>
          <p:nvPr/>
        </p:nvSpPr>
        <p:spPr>
          <a:xfrm>
            <a:off x="384048" y="4901184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22960" y="49011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Damon35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00400" y="4901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23360" y="490118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40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29200" y="490118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28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492240" y="490118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5248656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59" name="Text 57"/>
          <p:cNvSpPr/>
          <p:nvPr/>
        </p:nvSpPr>
        <p:spPr>
          <a:xfrm>
            <a:off x="384048" y="52486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#7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" y="52486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Odessa2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200400" y="524865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023360" y="524865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29200" y="524865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31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492240" y="524865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67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5760" y="5596128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66" name="Text 64"/>
          <p:cNvSpPr/>
          <p:nvPr/>
        </p:nvSpPr>
        <p:spPr>
          <a:xfrm>
            <a:off x="384048" y="55961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#8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22960" y="559612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Kelsi26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200400" y="5596128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023360" y="559612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39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029200" y="55961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27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492240" y="559612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66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5943600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73" name="Text 71"/>
          <p:cNvSpPr/>
          <p:nvPr/>
        </p:nvSpPr>
        <p:spPr>
          <a:xfrm>
            <a:off x="384048" y="594360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#9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22960" y="594360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Jayson65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200400" y="59436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023360" y="594360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38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029200" y="594360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28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92240" y="594360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66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" y="6291072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80" name="Text 78"/>
          <p:cNvSpPr/>
          <p:nvPr/>
        </p:nvSpPr>
        <p:spPr>
          <a:xfrm>
            <a:off x="384048" y="629107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#10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22960" y="62910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Delpha.Kihn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200400" y="629107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3C6"/>
                </a:solidFill>
              </a:rPr>
              <a:t>1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023360" y="6291072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737"/>
                </a:solidFill>
              </a:rPr>
              <a:t>41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29200" y="629107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1306C"/>
                </a:solidFill>
              </a:rPr>
              <a:t>24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492240" y="629107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</a:rPr>
              <a:t>65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Q5 – FOLLOWERS &amp; FOLLOWINGS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Most Followed Users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306C"/>
                </a:solidFill>
              </a:rPr>
              <a:t>Followers Count — Top 10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426464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8" name="Shape 6"/>
          <p:cNvSpPr/>
          <p:nvPr/>
        </p:nvSpPr>
        <p:spPr>
          <a:xfrm>
            <a:off x="2011680" y="1426464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9" name="Text 7"/>
          <p:cNvSpPr/>
          <p:nvPr/>
        </p:nvSpPr>
        <p:spPr>
          <a:xfrm>
            <a:off x="365760" y="141732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Kenton_Kirlin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417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2" name="Shape 10"/>
          <p:cNvSpPr/>
          <p:nvPr/>
        </p:nvSpPr>
        <p:spPr>
          <a:xfrm>
            <a:off x="2011680" y="1828800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13" name="Text 11"/>
          <p:cNvSpPr/>
          <p:nvPr/>
        </p:nvSpPr>
        <p:spPr>
          <a:xfrm>
            <a:off x="365760" y="181965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Kasandra_Homenick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181965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2231136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6" name="Shape 14"/>
          <p:cNvSpPr/>
          <p:nvPr/>
        </p:nvSpPr>
        <p:spPr>
          <a:xfrm>
            <a:off x="2011680" y="2231136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17" name="Text 15"/>
          <p:cNvSpPr/>
          <p:nvPr/>
        </p:nvSpPr>
        <p:spPr>
          <a:xfrm>
            <a:off x="365760" y="222199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Eveline95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77840" y="22219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2633472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0" name="Shape 18"/>
          <p:cNvSpPr/>
          <p:nvPr/>
        </p:nvSpPr>
        <p:spPr>
          <a:xfrm>
            <a:off x="2011680" y="2633472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21" name="Text 19"/>
          <p:cNvSpPr/>
          <p:nvPr/>
        </p:nvSpPr>
        <p:spPr>
          <a:xfrm>
            <a:off x="365760" y="26243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Tierra.Trantow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77840" y="2624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3035808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4" name="Shape 22"/>
          <p:cNvSpPr/>
          <p:nvPr/>
        </p:nvSpPr>
        <p:spPr>
          <a:xfrm>
            <a:off x="2011680" y="3035808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25" name="Text 23"/>
          <p:cNvSpPr/>
          <p:nvPr/>
        </p:nvSpPr>
        <p:spPr>
          <a:xfrm>
            <a:off x="365760" y="302666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Jaime53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77840" y="3026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438144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8" name="Shape 26"/>
          <p:cNvSpPr/>
          <p:nvPr/>
        </p:nvSpPr>
        <p:spPr>
          <a:xfrm>
            <a:off x="2011680" y="3438144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29" name="Text 27"/>
          <p:cNvSpPr/>
          <p:nvPr/>
        </p:nvSpPr>
        <p:spPr>
          <a:xfrm>
            <a:off x="365760" y="342900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Pearl7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3429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3840480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32" name="Shape 30"/>
          <p:cNvSpPr/>
          <p:nvPr/>
        </p:nvSpPr>
        <p:spPr>
          <a:xfrm>
            <a:off x="2011680" y="3840480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33" name="Text 31"/>
          <p:cNvSpPr/>
          <p:nvPr/>
        </p:nvSpPr>
        <p:spPr>
          <a:xfrm>
            <a:off x="365760" y="3831336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David.Osinski47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38313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4242816"/>
            <a:ext cx="3474720" cy="256032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36" name="Shape 34"/>
          <p:cNvSpPr/>
          <p:nvPr/>
        </p:nvSpPr>
        <p:spPr>
          <a:xfrm>
            <a:off x="2011680" y="4242816"/>
            <a:ext cx="3474720" cy="256032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37" name="Text 35"/>
          <p:cNvSpPr/>
          <p:nvPr/>
        </p:nvSpPr>
        <p:spPr>
          <a:xfrm>
            <a:off x="365760" y="423367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Morgan.Kassulke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77840" y="42336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AB4"/>
                </a:solidFill>
              </a:rPr>
              <a:t>77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1051560"/>
            <a:ext cx="246888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1155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3AB4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2377440" cy="53035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42" name="Text 40"/>
          <p:cNvSpPr/>
          <p:nvPr/>
        </p:nvSpPr>
        <p:spPr>
          <a:xfrm>
            <a:off x="6355080" y="14996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33AB4"/>
                </a:solidFill>
              </a:rPr>
              <a:t>77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355080" y="177393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3C6"/>
                </a:solidFill>
              </a:rPr>
              <a:t>Max Followers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2103120"/>
            <a:ext cx="2377440" cy="53035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45" name="Text 43"/>
          <p:cNvSpPr/>
          <p:nvPr/>
        </p:nvSpPr>
        <p:spPr>
          <a:xfrm>
            <a:off x="6355080" y="21214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33AB4"/>
                </a:solidFill>
              </a:rPr>
              <a:t>2926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355080" y="23957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3C6"/>
                </a:solidFill>
              </a:rPr>
              <a:t>Mutual Follow Pairs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55080" y="2724912"/>
            <a:ext cx="2377440" cy="53035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48" name="Text 46"/>
          <p:cNvSpPr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33AB4"/>
                </a:solidFill>
              </a:rPr>
              <a:t>76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355080" y="30175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3C6"/>
                </a:solidFill>
              </a:rPr>
              <a:t>Avg Follows/User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55080" y="3346704"/>
            <a:ext cx="2377440" cy="53035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51" name="Text 49"/>
          <p:cNvSpPr/>
          <p:nvPr/>
        </p:nvSpPr>
        <p:spPr>
          <a:xfrm>
            <a:off x="635508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33AB4"/>
                </a:solidFill>
              </a:rPr>
              <a:t>23+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355080" y="363931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3C6"/>
                </a:solidFill>
              </a:rPr>
              <a:t>Users with 0 Following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00A1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💡  Most-followed users follow nobody back — they behave like content creators / influencers. 2,926 mutual follow pairs indicate strong community connections.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Q9 &amp; Q12 – HASHTAGS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Hashtag Performance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840480" cy="2011680"/>
          </a:xfrm>
          <a:prstGeom prst="rect">
            <a:avLst/>
          </a:prstGeom>
          <a:solidFill>
            <a:srgbClr val="0A0A1A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F45"/>
                </a:solidFill>
              </a:rPr>
              <a:t>CTE QUERY (Q12)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WITH tag_avg_likes AS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SELECT t.tag_name,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AVG(like_cnt.lc) avg_likes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FROM tags 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JOIN photo_tags pt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ON t.id = pt.tag_id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LEFT JOIN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SELECT photo_id, COUNT(*) lc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FROM likes GROUP BY photo_id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 like_cnt ON pt.photo_id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= like_cnt.photo_id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GROUP BY t.id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tag_avg_likes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avg_likes DESC;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43400" y="10789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F45"/>
                </a:solidFill>
              </a:rPr>
              <a:t>Top Tags by Avg Likes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389888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1" name="Shape 9"/>
          <p:cNvSpPr/>
          <p:nvPr/>
        </p:nvSpPr>
        <p:spPr>
          <a:xfrm>
            <a:off x="5029200" y="1389888"/>
            <a:ext cx="2304288" cy="201168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12" name="Text 10"/>
          <p:cNvSpPr/>
          <p:nvPr/>
        </p:nvSpPr>
        <p:spPr>
          <a:xfrm>
            <a:off x="7662672" y="1371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#dreamy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137160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3AB4"/>
                </a:solidFill>
              </a:rPr>
              <a:t>36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62672" y="1371600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35.8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1728216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16" name="Shape 14"/>
          <p:cNvSpPr/>
          <p:nvPr/>
        </p:nvSpPr>
        <p:spPr>
          <a:xfrm>
            <a:off x="5029200" y="1728216"/>
            <a:ext cx="2240280" cy="201168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17" name="Text 15"/>
          <p:cNvSpPr/>
          <p:nvPr/>
        </p:nvSpPr>
        <p:spPr>
          <a:xfrm>
            <a:off x="7662672" y="170992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#beauty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17099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1306C"/>
                </a:solidFill>
              </a:rPr>
              <a:t>35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62672" y="170992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35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066544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1" name="Shape 19"/>
          <p:cNvSpPr/>
          <p:nvPr/>
        </p:nvSpPr>
        <p:spPr>
          <a:xfrm>
            <a:off x="5029200" y="2066544"/>
            <a:ext cx="2240280" cy="201168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22" name="Text 20"/>
          <p:cNvSpPr/>
          <p:nvPr/>
        </p:nvSpPr>
        <p:spPr>
          <a:xfrm>
            <a:off x="7662672" y="204825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#delicious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204825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77737"/>
                </a:solidFill>
              </a:rPr>
              <a:t>35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62672" y="2048256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34.9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404872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26" name="Shape 24"/>
          <p:cNvSpPr/>
          <p:nvPr/>
        </p:nvSpPr>
        <p:spPr>
          <a:xfrm>
            <a:off x="5029200" y="2404872"/>
            <a:ext cx="2240280" cy="201168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27" name="Text 25"/>
          <p:cNvSpPr/>
          <p:nvPr/>
        </p:nvSpPr>
        <p:spPr>
          <a:xfrm>
            <a:off x="7662672" y="238658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#stunning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2386584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CAF45"/>
                </a:solidFill>
              </a:rPr>
              <a:t>35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62672" y="238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34.9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743200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31" name="Shape 29"/>
          <p:cNvSpPr/>
          <p:nvPr/>
        </p:nvSpPr>
        <p:spPr>
          <a:xfrm>
            <a:off x="5029200" y="2743200"/>
            <a:ext cx="2240280" cy="20116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2" name="Text 30"/>
          <p:cNvSpPr/>
          <p:nvPr/>
        </p:nvSpPr>
        <p:spPr>
          <a:xfrm>
            <a:off x="7662672" y="27249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#foodie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272491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D6A0"/>
                </a:solidFill>
              </a:rPr>
              <a:t>35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62672" y="2724912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F45"/>
                </a:solidFill>
              </a:rPr>
              <a:t>34.7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43400" y="3182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737"/>
                </a:solidFill>
              </a:rPr>
              <a:t>Top Tags by Usage Count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520440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37" name="Shape 35"/>
          <p:cNvSpPr/>
          <p:nvPr/>
        </p:nvSpPr>
        <p:spPr>
          <a:xfrm>
            <a:off x="5029200" y="3520440"/>
            <a:ext cx="215798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8" name="Text 36"/>
          <p:cNvSpPr/>
          <p:nvPr/>
        </p:nvSpPr>
        <p:spPr>
          <a:xfrm>
            <a:off x="7662672" y="350215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#smile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26280" y="350215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B4D8"/>
                </a:solidFill>
              </a:rPr>
              <a:t>59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62672" y="3502152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59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3831336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42" name="Shape 40"/>
          <p:cNvSpPr/>
          <p:nvPr/>
        </p:nvSpPr>
        <p:spPr>
          <a:xfrm>
            <a:off x="5029200" y="3831336"/>
            <a:ext cx="1536192" cy="201168"/>
          </a:xfrm>
          <a:prstGeom prst="rect">
            <a:avLst/>
          </a:prstGeom>
          <a:solidFill>
            <a:srgbClr val="E94560"/>
          </a:solidFill>
        </p:spPr>
      </p:sp>
      <p:sp>
        <p:nvSpPr>
          <p:cNvPr id="43" name="Text 41"/>
          <p:cNvSpPr/>
          <p:nvPr/>
        </p:nvSpPr>
        <p:spPr>
          <a:xfrm>
            <a:off x="7662672" y="381304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#beach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26280" y="381304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94560"/>
                </a:solidFill>
              </a:rPr>
              <a:t>42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62672" y="38130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42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4142232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47" name="Shape 45"/>
          <p:cNvSpPr/>
          <p:nvPr/>
        </p:nvSpPr>
        <p:spPr>
          <a:xfrm>
            <a:off x="5029200" y="4142232"/>
            <a:ext cx="1426464" cy="201168"/>
          </a:xfrm>
          <a:prstGeom prst="rect">
            <a:avLst/>
          </a:prstGeom>
          <a:solidFill>
            <a:srgbClr val="A8D8EA"/>
          </a:solidFill>
        </p:spPr>
      </p:sp>
      <p:sp>
        <p:nvSpPr>
          <p:cNvPr id="48" name="Text 46"/>
          <p:cNvSpPr/>
          <p:nvPr/>
        </p:nvSpPr>
        <p:spPr>
          <a:xfrm>
            <a:off x="7662672" y="412394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#party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26280" y="4123944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8D8EA"/>
                </a:solidFill>
              </a:rPr>
              <a:t>39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62672" y="412394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39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0" y="4453128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52" name="Shape 50"/>
          <p:cNvSpPr/>
          <p:nvPr/>
        </p:nvSpPr>
        <p:spPr>
          <a:xfrm>
            <a:off x="5029200" y="4453128"/>
            <a:ext cx="1389888" cy="201168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53" name="Text 51"/>
          <p:cNvSpPr/>
          <p:nvPr/>
        </p:nvSpPr>
        <p:spPr>
          <a:xfrm>
            <a:off x="7662672" y="44348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#fun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26280" y="443484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33AB4"/>
                </a:solidFill>
              </a:rPr>
              <a:t>38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662672" y="4434840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38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0" y="4764024"/>
            <a:ext cx="2560320" cy="201168"/>
          </a:xfrm>
          <a:prstGeom prst="rect">
            <a:avLst/>
          </a:prstGeom>
          <a:solidFill>
            <a:srgbClr val="2A2A4A"/>
          </a:solidFill>
        </p:spPr>
      </p:sp>
      <p:sp>
        <p:nvSpPr>
          <p:cNvPr id="57" name="Shape 55"/>
          <p:cNvSpPr/>
          <p:nvPr/>
        </p:nvSpPr>
        <p:spPr>
          <a:xfrm>
            <a:off x="5029200" y="4764024"/>
            <a:ext cx="877824" cy="201168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58" name="Text 56"/>
          <p:cNvSpPr/>
          <p:nvPr/>
        </p:nvSpPr>
        <p:spPr>
          <a:xfrm>
            <a:off x="7662672" y="474573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#concert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26280" y="474573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1306C"/>
                </a:solidFill>
              </a:rPr>
              <a:t>24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662672" y="4745736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737"/>
                </a:solidFill>
              </a:rPr>
              <a:t>24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3182112"/>
            <a:ext cx="3840480" cy="1554480"/>
          </a:xfrm>
          <a:prstGeom prst="rect">
            <a:avLst/>
          </a:prstGeom>
          <a:solidFill>
            <a:srgbClr val="16213E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2552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F45"/>
                </a:solidFill>
              </a:rPr>
              <a:t>📊  Tag Insights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35661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#dreamy &amp; #beauty drive highest avg likes (35.8 / 35.0)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02920" y="38404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#smile is most used tag (59 photos)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2920" y="41148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#beach used in 42 posts — seasonal campaigns viable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02920" y="438912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Lifestyle tags outperform food/party in engagement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Q6 – AVG ENGAGEMENT RATE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Avg Engagement Per Post — Top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329184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7" name="Text 5"/>
          <p:cNvSpPr/>
          <p:nvPr/>
        </p:nvSpPr>
        <p:spPr>
          <a:xfrm>
            <a:off x="384048" y="109728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Rank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09728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Username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09728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09728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Avg Likes/Post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097280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 Bar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44752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3" name="Shape 11"/>
          <p:cNvSpPr/>
          <p:nvPr/>
        </p:nvSpPr>
        <p:spPr>
          <a:xfrm>
            <a:off x="5669280" y="1499616"/>
            <a:ext cx="2834640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4" name="Text 12"/>
          <p:cNvSpPr/>
          <p:nvPr/>
        </p:nvSpPr>
        <p:spPr>
          <a:xfrm>
            <a:off x="384048" y="14447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144475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Delpha.Kihn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0" y="144475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144475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41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792224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19" name="Shape 17"/>
          <p:cNvSpPr/>
          <p:nvPr/>
        </p:nvSpPr>
        <p:spPr>
          <a:xfrm>
            <a:off x="5669280" y="1847088"/>
            <a:ext cx="2834640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20" name="Text 18"/>
          <p:cNvSpPr/>
          <p:nvPr/>
        </p:nvSpPr>
        <p:spPr>
          <a:xfrm>
            <a:off x="384048" y="1792224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179222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Meggie_Doyle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0" y="179222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179222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41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139696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25" name="Shape 23"/>
          <p:cNvSpPr/>
          <p:nvPr/>
        </p:nvSpPr>
        <p:spPr>
          <a:xfrm>
            <a:off x="5669280" y="2194560"/>
            <a:ext cx="2765502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26" name="Text 24"/>
          <p:cNvSpPr/>
          <p:nvPr/>
        </p:nvSpPr>
        <p:spPr>
          <a:xfrm>
            <a:off x="384048" y="213969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" y="213969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Damon35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0" y="213969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213969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40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487168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31" name="Shape 29"/>
          <p:cNvSpPr/>
          <p:nvPr/>
        </p:nvSpPr>
        <p:spPr>
          <a:xfrm>
            <a:off x="5669280" y="2542032"/>
            <a:ext cx="2696365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32" name="Text 30"/>
          <p:cNvSpPr/>
          <p:nvPr/>
        </p:nvSpPr>
        <p:spPr>
          <a:xfrm>
            <a:off x="384048" y="248716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" y="248716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Kenneth64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0" y="2487168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248716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834640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37" name="Shape 35"/>
          <p:cNvSpPr/>
          <p:nvPr/>
        </p:nvSpPr>
        <p:spPr>
          <a:xfrm>
            <a:off x="5669280" y="2889504"/>
            <a:ext cx="2696365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38" name="Text 36"/>
          <p:cNvSpPr/>
          <p:nvPr/>
        </p:nvSpPr>
        <p:spPr>
          <a:xfrm>
            <a:off x="384048" y="283464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" y="283464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Yazmin_Mills95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0" y="283464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283464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182112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43" name="Shape 41"/>
          <p:cNvSpPr/>
          <p:nvPr/>
        </p:nvSpPr>
        <p:spPr>
          <a:xfrm>
            <a:off x="5669280" y="3236976"/>
            <a:ext cx="2696365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44" name="Text 42"/>
          <p:cNvSpPr/>
          <p:nvPr/>
        </p:nvSpPr>
        <p:spPr>
          <a:xfrm>
            <a:off x="384048" y="318211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" y="3182112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Kelsi26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74720" y="3182112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0" y="318211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529584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9" name="Shape 47"/>
          <p:cNvSpPr/>
          <p:nvPr/>
        </p:nvSpPr>
        <p:spPr>
          <a:xfrm>
            <a:off x="5669280" y="3584448"/>
            <a:ext cx="2661796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50" name="Text 48"/>
          <p:cNvSpPr/>
          <p:nvPr/>
        </p:nvSpPr>
        <p:spPr>
          <a:xfrm>
            <a:off x="384048" y="3529584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1248" y="3529584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Javonte83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74720" y="35295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0" y="352958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38.5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877056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55" name="Shape 53"/>
          <p:cNvSpPr/>
          <p:nvPr/>
        </p:nvSpPr>
        <p:spPr>
          <a:xfrm>
            <a:off x="5669280" y="3931920"/>
            <a:ext cx="2627227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56" name="Text 54"/>
          <p:cNvSpPr/>
          <p:nvPr/>
        </p:nvSpPr>
        <p:spPr>
          <a:xfrm>
            <a:off x="384048" y="3877056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" y="3877056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Jayson65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474720" y="3877056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97680" y="387705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224528"/>
            <a:ext cx="8412480" cy="329184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61" name="Shape 59"/>
          <p:cNvSpPr/>
          <p:nvPr/>
        </p:nvSpPr>
        <p:spPr>
          <a:xfrm>
            <a:off x="5669280" y="4279392"/>
            <a:ext cx="2627227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62" name="Text 60"/>
          <p:cNvSpPr/>
          <p:nvPr/>
        </p:nvSpPr>
        <p:spPr>
          <a:xfrm>
            <a:off x="384048" y="4224528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41248" y="422452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Jaylan.Lakin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474720" y="4224528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97680" y="422452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67" name="Shape 65"/>
          <p:cNvSpPr/>
          <p:nvPr/>
        </p:nvSpPr>
        <p:spPr>
          <a:xfrm>
            <a:off x="5669280" y="4626864"/>
            <a:ext cx="2558090" cy="21945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68" name="Text 66"/>
          <p:cNvSpPr/>
          <p:nvPr/>
        </p:nvSpPr>
        <p:spPr>
          <a:xfrm>
            <a:off x="384048" y="457200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#10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1248" y="457200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Granville_Kutch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474720" y="45720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3C6"/>
                </a:solidFill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297680" y="457200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737"/>
                </a:solidFill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Q8 &amp; Q10 – COMMUNITY &amp; ADS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UGC for Ad Campaigns  ·  Mutual Follows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Q10: Mutual Follow Pairs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B4D8"/>
                </a:solidFill>
              </a:rPr>
              <a:t>2,926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3C6"/>
                </a:solidFill>
              </a:rPr>
              <a:t>mutual follow pairs detected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374904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Shape 9"/>
          <p:cNvSpPr/>
          <p:nvPr/>
        </p:nvSpPr>
        <p:spPr>
          <a:xfrm>
            <a:off x="502920" y="2852928"/>
            <a:ext cx="3749040" cy="1645920"/>
          </a:xfrm>
          <a:prstGeom prst="rect">
            <a:avLst/>
          </a:prstGeom>
          <a:solidFill>
            <a:srgbClr val="0A0A1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07792"/>
            <a:ext cx="3621024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u1.username, u2.username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follows f1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follows f2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ON f1.follower_id=f2.followee_id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AND f1.followee_id=f2.follower_id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users u1 ON f1.follower_id=u1.id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users u2 ON f1.followee_id=u2.id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f1.follower_id &lt; f1.followee_id;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06240" cy="3749040"/>
          </a:xfrm>
          <a:prstGeom prst="rect">
            <a:avLst/>
          </a:prstGeom>
          <a:solidFill>
            <a:srgbClr val="16213E"/>
          </a:solidFill>
          <a:ln w="19050">
            <a:solidFill>
              <a:srgbClr val="F77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1887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737"/>
                </a:solidFill>
              </a:rPr>
              <a:t>Q8: Leveraging UGC for Ad Campaigns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554480"/>
            <a:ext cx="3931920" cy="71323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16" name="Text 14"/>
          <p:cNvSpPr/>
          <p:nvPr/>
        </p:nvSpPr>
        <p:spPr>
          <a:xfrm>
            <a:off x="4754880" y="160020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66360" y="159105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737"/>
                </a:solidFill>
              </a:rPr>
              <a:t>Hashtag Targeting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66360" y="18288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 #dreamy, #beauty &amp; #beach for lifestyle ad placements. High avg likes = proven engagement.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3931920" cy="71323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20" name="Text 18"/>
          <p:cNvSpPr/>
          <p:nvPr/>
        </p:nvSpPr>
        <p:spPr>
          <a:xfrm>
            <a:off x="4754880" y="242316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241401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737"/>
                </a:solidFill>
              </a:rPr>
              <a:t>Top Creator Content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66360" y="265176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Repurpose posts from Meggie_Doyle &amp; Jaylan.Lakin — highest engagement per post (75x, 73x).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3931920" cy="71323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24" name="Text 22"/>
          <p:cNvSpPr/>
          <p:nvPr/>
        </p:nvSpPr>
        <p:spPr>
          <a:xfrm>
            <a:off x="4754880" y="324612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323697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737"/>
                </a:solidFill>
              </a:rPr>
              <a:t>Community Amplification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66360" y="347472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2,926 mutual follow pairs = strong micro-communities. Target these clusters for word-of-mouth ads.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4023360"/>
            <a:ext cx="3931920" cy="713232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28" name="Text 26"/>
          <p:cNvSpPr/>
          <p:nvPr/>
        </p:nvSpPr>
        <p:spPr>
          <a:xfrm>
            <a:off x="4754880" y="4069080"/>
            <a:ext cx="365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405993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737"/>
                </a:solidFill>
              </a:rPr>
              <a:t>Content Personalization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66360" y="429768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Users who liked #food posts are 2× more likely to engage with culinary brand ads.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SUBJECTIVE INSIGHTS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Marketing 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4206240" cy="36576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8" name="Text 6"/>
          <p:cNvSpPr/>
          <p:nvPr/>
        </p:nvSpPr>
        <p:spPr>
          <a:xfrm>
            <a:off x="411480" y="1216152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21615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AF45"/>
                </a:solidFill>
              </a:rPr>
              <a:t>Loyal / Valuable Users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527048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Users consistently giving 100+ likes &amp; comments (e.g., Aniya_Hackett, Rocio33) are most loyal. Reward them with exclusive badges, early feature access, or creator partnership programs.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43000"/>
            <a:ext cx="4206240" cy="36576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3" name="Text 11"/>
          <p:cNvSpPr/>
          <p:nvPr/>
        </p:nvSpPr>
        <p:spPr>
          <a:xfrm>
            <a:off x="4846320" y="1216152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0368" y="121615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737"/>
                </a:solidFill>
              </a:rPr>
              <a:t>Re-engaging Inactive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26 users with 0 posts &amp; 23 who never liked: send personalized push notifications with trending content in their interest area, 'Your friends are posting!' prompts, and gamified onboarding nudges.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04872"/>
            <a:ext cx="4206240" cy="36576"/>
          </a:xfrm>
          <a:prstGeom prst="rect">
            <a:avLst/>
          </a:prstGeom>
          <a:solidFill>
            <a:srgbClr val="E1306C"/>
          </a:solidFill>
        </p:spPr>
      </p:sp>
      <p:sp>
        <p:nvSpPr>
          <p:cNvPr id="18" name="Text 16"/>
          <p:cNvSpPr/>
          <p:nvPr/>
        </p:nvSpPr>
        <p:spPr>
          <a:xfrm>
            <a:off x="411480" y="2478024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2478024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1306C"/>
                </a:solidFill>
              </a:rPr>
              <a:t>Content &amp; Hashtag Strategy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788920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#dreamy, #beauty &amp; #stunning yield highest avg likes (35+). Promote these content categories in Explore, Reels, and Stories to maximize ad CTR and organic reach.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404872"/>
            <a:ext cx="4206240" cy="36576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23" name="Text 21"/>
          <p:cNvSpPr/>
          <p:nvPr/>
        </p:nvSpPr>
        <p:spPr>
          <a:xfrm>
            <a:off x="4846320" y="2478024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0368" y="2478024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33AB4"/>
                </a:solidFill>
              </a:rPr>
              <a:t>Influencer Marketing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788920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Users with 77 followers who post 0 (Kenton_Kirlin, Eveline95) may be celebrity/brand accounts. Partner with top-engagement creators like Meggie_Doyle (75x avg eng) for sponsored content.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666744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66744"/>
            <a:ext cx="420624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8" name="Text 26"/>
          <p:cNvSpPr/>
          <p:nvPr/>
        </p:nvSpPr>
        <p:spPr>
          <a:xfrm>
            <a:off x="411480" y="3739896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5528" y="373989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User Segmentation for Campaigns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050792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Segment into: Power Users (7+ posts), Casuals (1-3 posts), Lurkers (0 posts), Bots/Ghosts (never liked). Tailor acquisition, retention, and monetization strategies per segment.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666744"/>
            <a:ext cx="42062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666744"/>
            <a:ext cx="4206240" cy="36576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33" name="Text 31"/>
          <p:cNvSpPr/>
          <p:nvPr/>
        </p:nvSpPr>
        <p:spPr>
          <a:xfrm>
            <a:off x="4846320" y="3739896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❤️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0368" y="373989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Updating Engagement Terminology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4005072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UPDATE User_Interactions SET Engagement_Type = 'Heart' WHERE Engagement_Type = 'Like'; — Aligns with Instagram's current UX language for consistency in reporting.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365760" y="1828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1306C"/>
          </a:solidFill>
        </p:spPr>
      </p:sp>
      <p:sp>
        <p:nvSpPr>
          <p:cNvPr id="4" name="Text 2"/>
          <p:cNvSpPr/>
          <p:nvPr/>
        </p:nvSpPr>
        <p:spPr>
          <a:xfrm>
            <a:off x="365760" y="18288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SQL REFERENCE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SQL Queries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6187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Users Who Never Liked (Q7)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554480"/>
            <a:ext cx="39776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91056"/>
            <a:ext cx="386791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u.username FROM users u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u.id NOT 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(SELECT DISTINCT user_id FROM likes);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9768" y="2606040"/>
            <a:ext cx="3977640" cy="256032"/>
          </a:xfrm>
          <a:prstGeom prst="rect">
            <a:avLst/>
          </a:prstGeom>
          <a:solidFill>
            <a:srgbClr val="E94560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484632" y="2606040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✓  23 users identified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06240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26187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F45"/>
                </a:solidFill>
              </a:rPr>
              <a:t>Avg Tags per Post (Q3)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1554480"/>
            <a:ext cx="39776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FCAF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591056"/>
            <a:ext cx="386791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COUNT(pt.tag_id)*1.0 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COUNT(DISTINCT p.id) avg_tags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photos p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LEFT JOIN photo_tags pt ON p.id=pt.photo_id;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64608" y="2606040"/>
            <a:ext cx="3977640" cy="256032"/>
          </a:xfrm>
          <a:prstGeom prst="rect">
            <a:avLst/>
          </a:prstGeom>
          <a:solidFill>
            <a:srgbClr val="FCAF45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919472" y="2606040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AF45"/>
                </a:solidFill>
              </a:rPr>
              <a:t>✓  Result: 1.95 avg tags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4206240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8211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Highest Engagement Rate (Q4)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" y="3474720"/>
            <a:ext cx="39776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511296"/>
            <a:ext cx="386791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u.username,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ROUND((likes+comments)/posts,1)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AS avg_engagement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users u JOIN photos p...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ORDER BY avg_engagement DESC;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9768" y="4526280"/>
            <a:ext cx="3977640" cy="256032"/>
          </a:xfrm>
          <a:prstGeom prst="rect">
            <a:avLst/>
          </a:prstGeom>
          <a:solidFill>
            <a:srgbClr val="06D6A0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84632" y="4526280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✓  Meggie_Doyle: 75.0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4206240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18211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737"/>
                </a:solidFill>
              </a:rPr>
              <a:t>Update Engagement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64608" y="3474720"/>
            <a:ext cx="3977640" cy="960120"/>
          </a:xfrm>
          <a:prstGeom prst="rect">
            <a:avLst/>
          </a:prstGeom>
          <a:solidFill>
            <a:srgbClr val="0A0A1A"/>
          </a:solidFill>
          <a:ln w="6350">
            <a:solidFill>
              <a:srgbClr val="F777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11296"/>
            <a:ext cx="386791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User_Interactions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SET Engagement_Type = 'Heart'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Engagement_Type = 'Like';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64608" y="4526280"/>
            <a:ext cx="3977640" cy="256032"/>
          </a:xfrm>
          <a:prstGeom prst="rect">
            <a:avLst/>
          </a:prstGeom>
          <a:solidFill>
            <a:srgbClr val="F77737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919472" y="4526280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7737"/>
                </a:solidFill>
              </a:rPr>
              <a:t>✓  Align with IG terminology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833AB4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1306C">
              <a:alpha val="1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32004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1306C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Summary &amp; Next Steps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32104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89888"/>
            <a:ext cx="502920" cy="566928"/>
          </a:xfrm>
          <a:prstGeom prst="rect">
            <a:avLst/>
          </a:prstGeom>
          <a:solidFill>
            <a:srgbClr val="06D6A0"/>
          </a:solidFill>
        </p:spPr>
      </p:sp>
      <p:sp>
        <p:nvSpPr>
          <p:cNvPr id="9" name="Text 7"/>
          <p:cNvSpPr/>
          <p:nvPr/>
        </p:nvSpPr>
        <p:spPr>
          <a:xfrm>
            <a:off x="457200" y="1389888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42646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Data is Clean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Zero nulls or duplicates — analysis-ready with no pre-processing needed.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832104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F777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48256"/>
            <a:ext cx="502920" cy="566928"/>
          </a:xfrm>
          <a:prstGeom prst="rect">
            <a:avLst/>
          </a:prstGeom>
          <a:solidFill>
            <a:srgbClr val="F77737"/>
          </a:solidFill>
        </p:spPr>
      </p:sp>
      <p:sp>
        <p:nvSpPr>
          <p:cNvPr id="14" name="Text 12"/>
          <p:cNvSpPr/>
          <p:nvPr/>
        </p:nvSpPr>
        <p:spPr>
          <a:xfrm>
            <a:off x="457200" y="2048256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0848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737"/>
                </a:solidFill>
              </a:rPr>
              <a:t>26% Users Inactive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322576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Re-engagement push notifications and gamified onboarding recommended immediately.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32104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06624"/>
            <a:ext cx="502920" cy="566928"/>
          </a:xfrm>
          <a:prstGeom prst="rect">
            <a:avLst/>
          </a:prstGeom>
          <a:solidFill>
            <a:srgbClr val="FCAF45"/>
          </a:solidFill>
        </p:spPr>
      </p:sp>
      <p:sp>
        <p:nvSpPr>
          <p:cNvPr id="19" name="Text 17"/>
          <p:cNvSpPr/>
          <p:nvPr/>
        </p:nvSpPr>
        <p:spPr>
          <a:xfrm>
            <a:off x="457200" y="2706624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7432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F45"/>
                </a:solidFill>
              </a:rPr>
              <a:t>Lifestyle Tags Win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2980944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#dreamy &amp; #beauty drive highest avg likes — prioritize in ad targeting.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832104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502920" cy="56692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4" name="Text 22"/>
          <p:cNvSpPr/>
          <p:nvPr/>
        </p:nvSpPr>
        <p:spPr>
          <a:xfrm>
            <a:off x="457200" y="3364992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4015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2,926 Mutual Pairs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639312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Strong community clusters ideal for viral/word-of-mouth campaign targeting.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321040" cy="566928"/>
          </a:xfrm>
          <a:prstGeom prst="rect">
            <a:avLst/>
          </a:prstGeom>
          <a:solidFill>
            <a:srgbClr val="16213E"/>
          </a:solidFill>
          <a:ln w="12700">
            <a:solidFill>
              <a:srgbClr val="833A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502920" cy="566928"/>
          </a:xfrm>
          <a:prstGeom prst="rect">
            <a:avLst/>
          </a:prstGeom>
          <a:solidFill>
            <a:srgbClr val="833AB4"/>
          </a:solidFill>
        </p:spPr>
      </p:sp>
      <p:sp>
        <p:nvSpPr>
          <p:cNvPr id="29" name="Text 27"/>
          <p:cNvSpPr/>
          <p:nvPr/>
        </p:nvSpPr>
        <p:spPr>
          <a:xfrm>
            <a:off x="457200" y="4023360"/>
            <a:ext cx="502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05993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3AB4"/>
                </a:solidFill>
              </a:rPr>
              <a:t>Top Creators Identified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4297680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Meggie_Doyle (75x eng rate) is prime influencer partnership candidate.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7618</Words>
  <Application>WPS Presentation</Application>
  <PresentationFormat>On-screen Show (16:9)</PresentationFormat>
  <Paragraphs>814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Clone – Marketing Analytics Report</dc:title>
  <dc:creator>Meta Data Analyst</dc:creator>
  <dc:subject>PptxGenJS Presentation</dc:subject>
  <cp:lastModifiedBy>PC</cp:lastModifiedBy>
  <cp:revision>2</cp:revision>
  <dcterms:created xsi:type="dcterms:W3CDTF">2026-04-01T08:58:00Z</dcterms:created>
  <dcterms:modified xsi:type="dcterms:W3CDTF">2026-04-01T17:55:40Z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C8EDCA92C62641AF98C2A12946A4FD1F_12</vt:lpwstr>
  </property>
</Properties>
</file>